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Urbanist" panose="020B0604020202020204" charset="0"/>
      <p:regular r:id="rId26"/>
      <p:bold r:id="rId27"/>
      <p:italic r:id="rId28"/>
      <p:boldItalic r:id="rId29"/>
    </p:embeddedFont>
    <p:embeddedFont>
      <p:font typeface="Urbanist SemiBold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0FC67CD-F7F8-4D08-8F7F-450759F02199}">
  <a:tblStyle styleId="{D0FC67CD-F7F8-4D08-8F7F-450759F021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49f44de6b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c49f44de6b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49f44de6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g3c49f44de6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c49f44de6b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c49f44de6b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85348" y="2099100"/>
            <a:ext cx="10421400" cy="26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 &amp; Business Intelligence</a:t>
            </a:r>
            <a:endParaRPr sz="5400" b="1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Static Dashboard Mock-up</a:t>
            </a:r>
            <a:endParaRPr sz="5400" b="1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5524500" y="2163216"/>
            <a:ext cx="1143000" cy="476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770459" y="2496591"/>
            <a:ext cx="8651081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Descriptive Statistics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Univariate Analysis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42491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Exploring singular variables, identifying distributions, and detecting categorical frequencies.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857250" y="1966912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Order Status Dominance: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Out of ~99k records, a massive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96,478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orders successfully reached a 'delivered' status. Cancellations (625) remain marginal.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857250" y="3148012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Geographic Concentration: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The 'São Paulo (SP)' state completely dominates the customer base, generating exponentially more orders than Rio de Janeiro or Minas Gerais.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857250" y="4329112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Payment Preferences: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Credit Cards are the reigning payment method with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76,795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occurrences, heavily outperforming Boletos (19,784) and Vouchers (5,775).</a:t>
            </a:r>
            <a:endParaRPr/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 l="2391" t="7259" r="1662" b="7151"/>
          <a:stretch>
            <a:fillRect/>
          </a:stretch>
        </p:blipFill>
        <p:spPr>
          <a:xfrm>
            <a:off x="6334124" y="1966912"/>
            <a:ext cx="5286375" cy="380999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4" name="Google Shape;104;p15"/>
          <p:cNvSpPr txBox="1"/>
          <p:nvPr/>
        </p:nvSpPr>
        <p:spPr>
          <a:xfrm>
            <a:off x="571500" y="1776412"/>
            <a:ext cx="266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2957512"/>
            <a:ext cx="266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4138612"/>
            <a:ext cx="266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Categorical Distributions: </a:t>
            </a:r>
            <a:r>
              <a:rPr lang="en-US" sz="33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Orders &amp; Payments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571500"/>
            <a:ext cx="520065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Numerical Profiling: </a:t>
            </a:r>
            <a:r>
              <a:rPr lang="en-US" sz="33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Pricing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571500" y="243363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Right-Skewed Distribution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571500" y="29003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When analyzing the `price` column using a seaborn histogram (capped at 500 BRL to filter extreme outliers up to 6,735 BRL), we observe a distinct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right-skewed distribution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71500" y="4262437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core insight: The vast majority of Olist's product inventory and sales volume thrives in the low-to-mid ticket range, specifically clustering heavily between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R$ 39.90 and R$ 134.90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18" name="Google Shape;118;p16" title="Step 1 cha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1" y="2433625"/>
            <a:ext cx="5823900" cy="39282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5524500" y="2529929"/>
            <a:ext cx="1143000" cy="476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1400413" y="2863304"/>
            <a:ext cx="9391173" cy="733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SQL </a:t>
            </a:r>
            <a:r>
              <a:rPr lang="en-US" sz="4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Business Intelligence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2286000" y="388247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Extracting answers for multi-table business questions through advanced SQL Joins and Aggregations.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71500" y="531495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Output from joining `order_items`, `products`, and translation tables to sum total revenue generation per translated category.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Query 1: Top Product Categories by Revenue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/>
        </p:nvSpPr>
        <p:spPr>
          <a:xfrm>
            <a:off x="642937" y="5792539"/>
            <a:ext cx="109061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Orders and Initial Acquisitions scale perfectly together, peaking dramatically at 7,544 operations during November 2017.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Queries 2 &amp; 5: Monthly Order &amp; Acquisition Trend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38312"/>
            <a:ext cx="11049000" cy="36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2443162" y="5605462"/>
            <a:ext cx="7305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Reflects the exact 5-record sample extracted during initial data sorting analysis.</a:t>
            </a:r>
            <a:endParaRPr/>
          </a:p>
        </p:txBody>
      </p:sp>
      <p:graphicFrame>
        <p:nvGraphicFramePr>
          <p:cNvPr id="150" name="Google Shape;150;p20"/>
          <p:cNvGraphicFramePr/>
          <p:nvPr>
            <p:extLst>
              <p:ext uri="{D42A27DB-BD31-4B8C-83A1-F6EECF244321}">
                <p14:modId xmlns:p14="http://schemas.microsoft.com/office/powerpoint/2010/main" val="474860399"/>
              </p:ext>
            </p:extLst>
          </p:nvPr>
        </p:nvGraphicFramePr>
        <p:xfrm>
          <a:off x="771525" y="1938337"/>
          <a:ext cx="10648950" cy="3228925"/>
        </p:xfrm>
        <a:graphic>
          <a:graphicData uri="http://schemas.openxmlformats.org/drawingml/2006/table">
            <a:tbl>
              <a:tblPr firstRow="1" bandRow="1">
                <a:tableStyleId>{D03447BB-5D67-496B-8E87-E561075AD55C}</a:tableStyleId>
              </a:tblPr>
              <a:tblGrid>
                <a:gridCol w="299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accent3"/>
                          </a:solidFill>
                          <a:sym typeface="Inter"/>
                        </a:rPr>
                        <a:t>RANK / INDEX</a:t>
                      </a:r>
                      <a:endParaRPr lang="en-US" b="1" dirty="0">
                        <a:solidFill>
                          <a:schemeClr val="accent3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accent3"/>
                          </a:solidFill>
                          <a:sym typeface="Inter"/>
                        </a:rPr>
                        <a:t>CUSTOMER CITY</a:t>
                      </a:r>
                      <a:endParaRPr lang="en-US" b="1" dirty="0">
                        <a:solidFill>
                          <a:schemeClr val="accent3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u="none" strike="noStrike" cap="none" dirty="0">
                          <a:solidFill>
                            <a:schemeClr val="accent3"/>
                          </a:solidFill>
                          <a:sym typeface="Inter"/>
                        </a:rPr>
                        <a:t>TOTAL REVENUE (R$)</a:t>
                      </a:r>
                      <a:endParaRPr lang="en-US" b="1" dirty="0">
                        <a:solidFill>
                          <a:schemeClr val="accent3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>
                          <a:solidFill>
                            <a:schemeClr val="tx1"/>
                          </a:solidFill>
                          <a:sym typeface="Inter"/>
                        </a:rPr>
                        <a:t>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abaetetuba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4,028.57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abaete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chemeClr val="tx1"/>
                          </a:solidFill>
                          <a:sym typeface="Urbanist"/>
                        </a:rPr>
                        <a:t>1,732.81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abadiania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949.99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abadia dos dourados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358.90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tx1"/>
                          </a:solidFill>
                          <a:sym typeface="Inter"/>
                        </a:rPr>
                        <a:t>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u="none" strike="noStrike" cap="none" dirty="0" err="1">
                          <a:solidFill>
                            <a:schemeClr val="tx1"/>
                          </a:solidFill>
                          <a:sym typeface="Inter"/>
                        </a:rPr>
                        <a:t>abaiara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 dirty="0">
                          <a:solidFill>
                            <a:schemeClr val="tx1"/>
                          </a:solidFill>
                          <a:sym typeface="Urbanist"/>
                        </a:rPr>
                        <a:t>262.90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1" name="Google Shape;151;p20"/>
          <p:cNvSpPr/>
          <p:nvPr/>
        </p:nvSpPr>
        <p:spPr>
          <a:xfrm>
            <a:off x="771525" y="2433637"/>
            <a:ext cx="29964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3768030" y="2433637"/>
            <a:ext cx="34536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0"/>
          <p:cNvSpPr/>
          <p:nvPr/>
        </p:nvSpPr>
        <p:spPr>
          <a:xfrm>
            <a:off x="7221735" y="2433637"/>
            <a:ext cx="4198800" cy="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771525" y="2990850"/>
            <a:ext cx="2996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768030" y="2990850"/>
            <a:ext cx="345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7221735" y="2990850"/>
            <a:ext cx="4198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71525" y="3533775"/>
            <a:ext cx="2996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3768030" y="3533775"/>
            <a:ext cx="345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7221735" y="3533775"/>
            <a:ext cx="4198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771525" y="4076700"/>
            <a:ext cx="2996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3768030" y="4076700"/>
            <a:ext cx="345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7221735" y="4076700"/>
            <a:ext cx="4198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771525" y="4619625"/>
            <a:ext cx="2996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768030" y="4619625"/>
            <a:ext cx="3453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7221735" y="4619625"/>
            <a:ext cx="41988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Query 3: Customer City Revenue Sample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29011"/>
            <a:ext cx="5381625" cy="140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329011"/>
            <a:ext cx="5381625" cy="140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14787"/>
            <a:ext cx="5381625" cy="140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38875" y="4014787"/>
            <a:ext cx="5381625" cy="140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6775" y="264795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34150" y="264795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66775" y="433372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34150" y="4333726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076325" y="28765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 txBox="1"/>
          <p:nvPr/>
        </p:nvSpPr>
        <p:spPr>
          <a:xfrm>
            <a:off x="1866900" y="2624286"/>
            <a:ext cx="20383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R$ 126.48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866900" y="3159472"/>
            <a:ext cx="20383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Credit Card Transactions</a:t>
            </a:r>
            <a:endParaRPr/>
          </a:p>
        </p:txBody>
      </p:sp>
      <p:pic>
        <p:nvPicPr>
          <p:cNvPr id="183" name="Google Shape;183;p21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743700" y="2876550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7534275" y="2624286"/>
            <a:ext cx="19716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R$ 108.67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7534275" y="3159472"/>
            <a:ext cx="19716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Debit Card Transactions</a:t>
            </a:r>
            <a:endParaRPr/>
          </a:p>
        </p:txBody>
      </p:sp>
      <p:pic>
        <p:nvPicPr>
          <p:cNvPr id="186" name="Google Shape;186;p21" descr="image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76325" y="456232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866900" y="4310062"/>
            <a:ext cx="160972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R$ 105.11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866900" y="4845248"/>
            <a:ext cx="16097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Voucher Purchases</a:t>
            </a:r>
            <a:endParaRPr/>
          </a:p>
        </p:txBody>
      </p:sp>
      <p:pic>
        <p:nvPicPr>
          <p:cNvPr id="189" name="Google Shape;189;p21" descr="image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6762750" y="4562326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534275" y="4310050"/>
            <a:ext cx="2038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R$</a:t>
            </a:r>
            <a:r>
              <a:rPr lang="en-US" sz="24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104.58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534275" y="4845248"/>
            <a:ext cx="130492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Boleto Invoices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Query 4: AOV by Distinct Payment Method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55614"/>
            <a:ext cx="53340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55614"/>
            <a:ext cx="533400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2"/>
          <p:cNvSpPr txBox="1"/>
          <p:nvPr/>
        </p:nvSpPr>
        <p:spPr>
          <a:xfrm>
            <a:off x="571500" y="4875014"/>
            <a:ext cx="11049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Extracted by isolating records where the `order_delivered_customer_date` successfully bypassed the `order_estimated_delivery_date`.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962025" y="2541389"/>
            <a:ext cx="4553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7,827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962025" y="3732014"/>
            <a:ext cx="4552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TOTAL LATE DELIVERIES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6677025" y="2541389"/>
            <a:ext cx="45531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8.11%</a:t>
            </a:r>
            <a:endParaRPr>
              <a:solidFill>
                <a:srgbClr val="DEFF9A"/>
              </a:solidFill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6677025" y="3732014"/>
            <a:ext cx="45529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rPr>
              <a:t>PERCENTAGE OF ALL DELIVERIES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Query 6: Logistics Delivery Performance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2150"/>
            <a:ext cx="11049000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962025" y="4686300"/>
            <a:ext cx="102681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Direct SQL extraction isolating products with critical quality or description mismatch issues causing platform friction.</a:t>
            </a:r>
            <a:endParaRPr/>
          </a:p>
        </p:txBody>
      </p:sp>
      <p:sp>
        <p:nvSpPr>
          <p:cNvPr id="213" name="Google Shape;213;p23"/>
          <p:cNvSpPr txBox="1"/>
          <p:nvPr/>
        </p:nvSpPr>
        <p:spPr>
          <a:xfrm>
            <a:off x="1343025" y="2352675"/>
            <a:ext cx="9887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Product ID: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422879e10f46682990de24d770e7f83d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— 79 Negative Reviews</a:t>
            </a:r>
            <a:endParaRPr/>
          </a:p>
        </p:txBody>
      </p:sp>
      <p:sp>
        <p:nvSpPr>
          <p:cNvPr id="214" name="Google Shape;214;p23"/>
          <p:cNvSpPr txBox="1"/>
          <p:nvPr/>
        </p:nvSpPr>
        <p:spPr>
          <a:xfrm>
            <a:off x="1343025" y="2800350"/>
            <a:ext cx="9887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Product ID: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53759a2ecddad2bb87a079a1f1519f73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— 65 Negative Reviews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1343025" y="3248025"/>
            <a:ext cx="9887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Product ID: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368c6c730842d78016ad823897a372db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— 65 Negative Reviews</a:t>
            </a:r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1343025" y="3695700"/>
            <a:ext cx="9887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Product ID: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99a4788cb24856965c36a24e339b6058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— 61 Negative Reviews</a:t>
            </a:r>
            <a:endParaRPr/>
          </a:p>
        </p:txBody>
      </p:sp>
      <p:sp>
        <p:nvSpPr>
          <p:cNvPr id="217" name="Google Shape;217;p23"/>
          <p:cNvSpPr txBox="1"/>
          <p:nvPr/>
        </p:nvSpPr>
        <p:spPr>
          <a:xfrm>
            <a:off x="1343025" y="4143375"/>
            <a:ext cx="98871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Product ID: </a:t>
            </a:r>
            <a:r>
              <a:rPr lang="en-US" sz="13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e53e557d5a159f5aa2c5e995dfdf244b</a:t>
            </a:r>
            <a:r>
              <a:rPr lang="en-US" sz="13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— 51 Negative Reviews</a:t>
            </a:r>
            <a:endParaRPr/>
          </a:p>
        </p:txBody>
      </p:sp>
      <p:pic>
        <p:nvPicPr>
          <p:cNvPr id="218" name="Google Shape;21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386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8336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2813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37290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41767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Query 7: Quality Control (Highest </a:t>
            </a:r>
            <a:r>
              <a:rPr lang="en-US" sz="3600" b="1" i="0" u="none" strike="noStrike" cap="none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1-Star</a:t>
            </a:r>
            <a:r>
              <a:rPr lang="en-US" sz="36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Reviews)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4"/>
          <p:cNvSpPr/>
          <p:nvPr/>
        </p:nvSpPr>
        <p:spPr>
          <a:xfrm>
            <a:off x="5524500" y="2163216"/>
            <a:ext cx="1143000" cy="476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700450" y="2496591"/>
            <a:ext cx="8791098" cy="1466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3: Multivariate Analysis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Correlation</a:t>
            </a:r>
            <a:endParaRPr/>
          </a:p>
        </p:txBody>
      </p:sp>
      <p:sp>
        <p:nvSpPr>
          <p:cNvPr id="231" name="Google Shape;231;p24"/>
          <p:cNvSpPr txBox="1"/>
          <p:nvPr/>
        </p:nvSpPr>
        <p:spPr>
          <a:xfrm>
            <a:off x="2286000" y="4249191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Investigating how two or more numerical variables influence each other across combined datasets.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5"/>
          <p:cNvSpPr txBox="1"/>
          <p:nvPr/>
        </p:nvSpPr>
        <p:spPr>
          <a:xfrm>
            <a:off x="857250" y="1966912"/>
            <a:ext cx="5000625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Merged `order_items` and `products` to analyze `price`, `freight_value`, `weight_g`, and `length_cm`.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857250" y="2900362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Key Discovery: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The strongest mathematical correlation exists between the physical characteristics of the item (specifically weight) and the resulting `freight_value` (shipping cost).</a:t>
            </a:r>
            <a:endParaRPr/>
          </a:p>
        </p:txBody>
      </p:sp>
      <p:sp>
        <p:nvSpPr>
          <p:cNvPr id="240" name="Google Shape;240;p25"/>
          <p:cNvSpPr txBox="1"/>
          <p:nvPr/>
        </p:nvSpPr>
        <p:spPr>
          <a:xfrm>
            <a:off x="857250" y="4081462"/>
            <a:ext cx="5000625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Lack of Price Influence:</a:t>
            </a:r>
            <a:r>
              <a:rPr lang="en-US" sz="1650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Interestingly, the base `price` of the product has virtually zero correlation with its dimensions, indicating varying value densities.</a:t>
            </a:r>
            <a:endParaRPr/>
          </a:p>
        </p:txBody>
      </p:sp>
      <p:pic>
        <p:nvPicPr>
          <p:cNvPr id="241" name="Google Shape;241;p25" title="Step 3 Heatmap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775" y="1900250"/>
            <a:ext cx="5267081" cy="4552901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5"/>
          <p:cNvSpPr txBox="1"/>
          <p:nvPr/>
        </p:nvSpPr>
        <p:spPr>
          <a:xfrm>
            <a:off x="571500" y="1776412"/>
            <a:ext cx="266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3" name="Google Shape;243;p25"/>
          <p:cNvSpPr txBox="1"/>
          <p:nvPr/>
        </p:nvSpPr>
        <p:spPr>
          <a:xfrm>
            <a:off x="571500" y="2709862"/>
            <a:ext cx="266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571500" y="3890962"/>
            <a:ext cx="266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50" b="0" i="0" u="none" strike="noStrike" cap="none">
                <a:solidFill>
                  <a:srgbClr val="DEFF9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Numerical Correlation: </a:t>
            </a:r>
            <a:r>
              <a:rPr lang="en-US" sz="33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Heatmap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6"/>
          <p:cNvSpPr txBox="1"/>
          <p:nvPr/>
        </p:nvSpPr>
        <p:spPr>
          <a:xfrm>
            <a:off x="571500" y="571500"/>
            <a:ext cx="520065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Multivariate Trend: </a:t>
            </a:r>
            <a:r>
              <a:rPr lang="en-US" sz="33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Shipping Costs</a:t>
            </a:r>
            <a:endParaRPr/>
          </a:p>
        </p:txBody>
      </p:sp>
      <p:pic>
        <p:nvPicPr>
          <p:cNvPr id="252" name="Google Shape;252;p26" title="Step 3 scatter plot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24355" y="2281225"/>
            <a:ext cx="5801244" cy="3750474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 txBox="1"/>
          <p:nvPr/>
        </p:nvSpPr>
        <p:spPr>
          <a:xfrm>
            <a:off x="571500" y="228123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Weight vs. Freight Value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571500" y="2747962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further investigate the heatmap findings, we plotted `product_weight_g` against `freight_value` via a Seaborn scatter plot (with alpha=0.3 to display density).</a:t>
            </a:r>
            <a:endParaRPr/>
          </a:p>
        </p:txBody>
      </p:sp>
      <p:sp>
        <p:nvSpPr>
          <p:cNvPr id="255" name="Google Shape;255;p26"/>
          <p:cNvSpPr txBox="1"/>
          <p:nvPr/>
        </p:nvSpPr>
        <p:spPr>
          <a:xfrm>
            <a:off x="571500" y="4110037"/>
            <a:ext cx="4953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visual confirms a strict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positive linear relationship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As the physical weight of the product increases, the logistics pricing scales up predictably, providing a baseline formula for estimating future shipping ceilings.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/>
          <p:cNvSpPr txBox="1"/>
          <p:nvPr/>
        </p:nvSpPr>
        <p:spPr>
          <a:xfrm>
            <a:off x="3636000" y="1443450"/>
            <a:ext cx="4920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THANK</a:t>
            </a:r>
            <a:r>
              <a:rPr lang="en-US" sz="6000" b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6000" b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YOU!!!</a:t>
            </a:r>
            <a:endParaRPr>
              <a:solidFill>
                <a:srgbClr val="DEFF9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658</Words>
  <Application>Microsoft Office PowerPoint</Application>
  <PresentationFormat>Widescreen</PresentationFormat>
  <Paragraphs>77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Inter Medium</vt:lpstr>
      <vt:lpstr>Arial</vt:lpstr>
      <vt:lpstr>Urbanist</vt:lpstr>
      <vt:lpstr>Calibri</vt:lpstr>
      <vt:lpstr>Inter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Shoaib Shaikh</cp:lastModifiedBy>
  <cp:revision>1</cp:revision>
  <dcterms:modified xsi:type="dcterms:W3CDTF">2026-03-01T17:22:38Z</dcterms:modified>
</cp:coreProperties>
</file>